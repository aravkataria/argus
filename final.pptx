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92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8"/>
    </p:embeddedFont>
    <p:embeddedFont>
      <p:font typeface="Arimo Bold" panose="020B0604020202020204" charset="0"/>
      <p:regular r:id="rId9"/>
    </p:embeddedFont>
    <p:embeddedFont>
      <p:font typeface="Calibri (MS)" panose="020B0604020202020204" charset="0"/>
      <p:regular r:id="rId10"/>
    </p:embeddedFont>
    <p:embeddedFont>
      <p:font typeface="Calibri (MS) Bold" panose="020B0604020202020204" charset="0"/>
      <p:regular r:id="rId11"/>
    </p:embeddedFont>
    <p:embeddedFont>
      <p:font typeface="Calibri (MS) Bold Italics" panose="020B0604020202020204" charset="0"/>
      <p:regular r:id="rId12"/>
    </p:embeddedFont>
    <p:embeddedFont>
      <p:font typeface="Garamond" panose="02020404030301010803" pitchFamily="18" charset="0"/>
      <p:regular r:id="rId13"/>
      <p:bold r:id="rId14"/>
      <p:italic r:id="rId15"/>
    </p:embeddedFont>
    <p:embeddedFont>
      <p:font typeface="Times New Roman Bold" panose="02020803070505020304" pitchFamily="18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5.jpe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6.jpe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5.jpeg"/><Relationship Id="rId7" Type="http://schemas.openxmlformats.org/officeDocument/2006/relationships/image" Target="../media/image1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8.png"/><Relationship Id="rId4" Type="http://schemas.openxmlformats.org/officeDocument/2006/relationships/image" Target="../media/image6.jpe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diacode.nic.in/handle/123456789/1999" TargetMode="External"/><Relationship Id="rId13" Type="http://schemas.openxmlformats.org/officeDocument/2006/relationships/hyperlink" Target="https://partners.digitallocker.gov.in" TargetMode="External"/><Relationship Id="rId3" Type="http://schemas.openxmlformats.org/officeDocument/2006/relationships/image" Target="../media/image5.jpeg"/><Relationship Id="rId7" Type="http://schemas.openxmlformats.org/officeDocument/2006/relationships/hyperlink" Target="https://www.aicte-india.org/bureaus/approval/approval-process-handbook-2024-27" TargetMode="External"/><Relationship Id="rId12" Type="http://schemas.openxmlformats.org/officeDocument/2006/relationships/hyperlink" Target="http://forensics.idealtest.org/casiav2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hyperlink" Target="https://arxiv.org/abs/1905.11946" TargetMode="External"/><Relationship Id="rId5" Type="http://schemas.openxmlformats.org/officeDocument/2006/relationships/image" Target="../media/image8.png"/><Relationship Id="rId15" Type="http://schemas.openxmlformats.org/officeDocument/2006/relationships/image" Target="../media/image21.png"/><Relationship Id="rId10" Type="http://schemas.openxmlformats.org/officeDocument/2006/relationships/hyperlink" Target="https://www.hackerfactor.com/papers/bh-usa-07-krawetz-wp.pdf" TargetMode="External"/><Relationship Id="rId4" Type="http://schemas.openxmlformats.org/officeDocument/2006/relationships/image" Target="../media/image6.jpeg"/><Relationship Id="rId9" Type="http://schemas.openxmlformats.org/officeDocument/2006/relationships/hyperlink" Target="https://www.iso.org/standard/51502.html" TargetMode="External"/><Relationship Id="rId14" Type="http://schemas.openxmlformats.org/officeDocument/2006/relationships/hyperlink" Target="https://github.com/Aravkataria/ARG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4A5BB0-1487-8318-0B55-EDFD3C021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-67277"/>
            <a:ext cx="18440400" cy="104215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10282337" y="2573822"/>
            <a:ext cx="4805264" cy="5139356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96929" y="-790136"/>
            <a:ext cx="15544800" cy="3114675"/>
          </a:xfrm>
        </p:spPr>
        <p:txBody>
          <a:bodyPr/>
          <a:lstStyle/>
          <a:p>
            <a:r>
              <a:rPr lang="en-US" sz="6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6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6929" y="3114676"/>
            <a:ext cx="8886825" cy="430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49"/>
              </a:lnSpc>
            </a:pPr>
            <a:r>
              <a:rPr lang="en-US" sz="2700" b="1" dirty="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Problem Statement ID: </a:t>
            </a:r>
            <a:r>
              <a:rPr lang="en-US" sz="2700" dirty="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SIH26261</a:t>
            </a:r>
          </a:p>
          <a:p>
            <a:pPr>
              <a:lnSpc>
                <a:spcPts val="4049"/>
              </a:lnSpc>
              <a:spcBef>
                <a:spcPts val="1124"/>
              </a:spcBef>
            </a:pPr>
            <a:r>
              <a:rPr lang="en-US" sz="2700" b="1" dirty="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Problem Statement Title: </a:t>
            </a:r>
            <a:r>
              <a:rPr lang="en-US" sz="2700" dirty="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Application Validation, Document Authentication and Regulatory Compliance Verification</a:t>
            </a:r>
          </a:p>
          <a:p>
            <a:pPr>
              <a:lnSpc>
                <a:spcPts val="4049"/>
              </a:lnSpc>
            </a:pPr>
            <a:r>
              <a:rPr lang="en-US" sz="2700" b="1" dirty="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Theme: </a:t>
            </a:r>
            <a:r>
              <a:rPr lang="en-US" sz="2700" dirty="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Smart Automation</a:t>
            </a:r>
          </a:p>
          <a:p>
            <a:pPr>
              <a:lnSpc>
                <a:spcPts val="4049"/>
              </a:lnSpc>
            </a:pPr>
            <a:r>
              <a:rPr lang="en-US" sz="2700" b="1" dirty="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PS Category: </a:t>
            </a:r>
            <a:r>
              <a:rPr lang="en-US" sz="2700" dirty="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</a:t>
            </a:r>
          </a:p>
          <a:p>
            <a:pPr>
              <a:lnSpc>
                <a:spcPts val="4049"/>
              </a:lnSpc>
            </a:pPr>
            <a:r>
              <a:rPr lang="en-US" sz="2700" b="1" dirty="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Team ID: </a:t>
            </a:r>
          </a:p>
          <a:p>
            <a:pPr>
              <a:lnSpc>
                <a:spcPts val="4049"/>
              </a:lnSpc>
            </a:pPr>
            <a:r>
              <a:rPr lang="en-US" sz="2700" b="1" dirty="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Team Name: </a:t>
            </a:r>
            <a:r>
              <a:rPr lang="en-US" sz="2700" dirty="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NAVDRISHTI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129" y="2251"/>
            <a:ext cx="3374775" cy="15935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613356" y="0"/>
            <a:ext cx="9807702" cy="1714500"/>
            <a:chOff x="0" y="0"/>
            <a:chExt cx="13076936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76937" cy="2286000"/>
            </a:xfrm>
            <a:custGeom>
              <a:avLst/>
              <a:gdLst/>
              <a:ahLst/>
              <a:cxnLst/>
              <a:rect l="l" t="t" r="r" b="b"/>
              <a:pathLst>
                <a:path w="13076937" h="2286000">
                  <a:moveTo>
                    <a:pt x="0" y="0"/>
                  </a:moveTo>
                  <a:lnTo>
                    <a:pt x="13076937" y="0"/>
                  </a:lnTo>
                  <a:lnTo>
                    <a:pt x="13076937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385" b="-6138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613356" y="-21431"/>
            <a:ext cx="9807683" cy="1735931"/>
            <a:chOff x="0" y="0"/>
            <a:chExt cx="13076911" cy="2314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76937" cy="2314575"/>
            </a:xfrm>
            <a:custGeom>
              <a:avLst/>
              <a:gdLst/>
              <a:ahLst/>
              <a:cxnLst/>
              <a:rect l="l" t="t" r="r" b="b"/>
              <a:pathLst>
                <a:path w="13076937" h="2314575">
                  <a:moveTo>
                    <a:pt x="0" y="0"/>
                  </a:moveTo>
                  <a:lnTo>
                    <a:pt x="13076937" y="0"/>
                  </a:lnTo>
                  <a:lnTo>
                    <a:pt x="13076937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010" b="-6000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613356" y="-42862"/>
            <a:ext cx="9807683" cy="1757362"/>
            <a:chOff x="0" y="0"/>
            <a:chExt cx="13076911" cy="2343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6910" cy="2343150"/>
            </a:xfrm>
            <a:custGeom>
              <a:avLst/>
              <a:gdLst/>
              <a:ahLst/>
              <a:cxnLst/>
              <a:rect l="l" t="t" r="r" b="b"/>
              <a:pathLst>
                <a:path w="13076910" h="2343150">
                  <a:moveTo>
                    <a:pt x="0" y="0"/>
                  </a:moveTo>
                  <a:lnTo>
                    <a:pt x="13076910" y="0"/>
                  </a:lnTo>
                  <a:lnTo>
                    <a:pt x="13076910" y="2343150"/>
                  </a:lnTo>
                  <a:lnTo>
                    <a:pt x="0" y="2343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8744" b="-5874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3076911" cy="237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ARGUS: Authentication &amp; Recognition Guardian for Unified Screening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49300"/>
            </a:xfrm>
            <a:custGeom>
              <a:avLst/>
              <a:gdLst/>
              <a:ahLst/>
              <a:cxnLst/>
              <a:rect l="l" t="t" r="r" b="b"/>
              <a:pathLst>
                <a:path w="5689600" h="749300">
                  <a:moveTo>
                    <a:pt x="0" y="0"/>
                  </a:moveTo>
                  <a:lnTo>
                    <a:pt x="5689600" y="0"/>
                  </a:lnTo>
                  <a:lnTo>
                    <a:pt x="56896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850" b="-9785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106400" y="9505950"/>
            <a:ext cx="4267200" cy="576262"/>
            <a:chOff x="0" y="0"/>
            <a:chExt cx="5689600" cy="7683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285" b="-9428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id="18" name="Freeform 18" descr="Your startup LOGO"/>
          <p:cNvSpPr/>
          <p:nvPr/>
        </p:nvSpPr>
        <p:spPr>
          <a:xfrm>
            <a:off x="77867" y="1343"/>
            <a:ext cx="2964180" cy="1989010"/>
          </a:xfrm>
          <a:custGeom>
            <a:avLst/>
            <a:gdLst/>
            <a:ahLst/>
            <a:cxnLst/>
            <a:rect l="l" t="t" r="r" b="b"/>
            <a:pathLst>
              <a:path w="2964180" h="1989010">
                <a:moveTo>
                  <a:pt x="0" y="0"/>
                </a:moveTo>
                <a:lnTo>
                  <a:pt x="2964180" y="0"/>
                </a:lnTo>
                <a:lnTo>
                  <a:pt x="2964180" y="1989011"/>
                </a:lnTo>
                <a:lnTo>
                  <a:pt x="0" y="1989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5" r="-85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92154" y="-27232"/>
            <a:ext cx="2935567" cy="2003346"/>
            <a:chOff x="0" y="0"/>
            <a:chExt cx="3914089" cy="267112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14140" cy="2671064"/>
            </a:xfrm>
            <a:custGeom>
              <a:avLst/>
              <a:gdLst/>
              <a:ahLst/>
              <a:cxnLst/>
              <a:rect l="l" t="t" r="r" b="b"/>
              <a:pathLst>
                <a:path w="3914140" h="2671064">
                  <a:moveTo>
                    <a:pt x="0" y="0"/>
                  </a:moveTo>
                  <a:lnTo>
                    <a:pt x="3914140" y="0"/>
                  </a:lnTo>
                  <a:lnTo>
                    <a:pt x="3914140" y="2671064"/>
                  </a:lnTo>
                  <a:lnTo>
                    <a:pt x="0" y="2671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619" r="-37618" b="-2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92154" y="-70094"/>
            <a:ext cx="2935567" cy="2046208"/>
            <a:chOff x="0" y="0"/>
            <a:chExt cx="3914089" cy="27282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14089" cy="2728278"/>
            </a:xfrm>
            <a:custGeom>
              <a:avLst/>
              <a:gdLst/>
              <a:ahLst/>
              <a:cxnLst/>
              <a:rect l="l" t="t" r="r" b="b"/>
              <a:pathLst>
                <a:path w="3914089" h="2728278">
                  <a:moveTo>
                    <a:pt x="0" y="0"/>
                  </a:moveTo>
                  <a:lnTo>
                    <a:pt x="3914089" y="0"/>
                  </a:lnTo>
                  <a:lnTo>
                    <a:pt x="3914089" y="2728278"/>
                  </a:lnTo>
                  <a:lnTo>
                    <a:pt x="0" y="2728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432" r="-3943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3914089" cy="2785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NAVDRISHTI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670129" y="2248"/>
            <a:ext cx="3374803" cy="1593532"/>
            <a:chOff x="0" y="0"/>
            <a:chExt cx="4499737" cy="212471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9" b="-60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0744200" y="4846320"/>
            <a:ext cx="6858000" cy="4572000"/>
            <a:chOff x="0" y="0"/>
            <a:chExt cx="9144000" cy="6096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44000" cy="6096000"/>
            </a:xfrm>
            <a:custGeom>
              <a:avLst/>
              <a:gdLst/>
              <a:ahLst/>
              <a:cxnLst/>
              <a:rect l="l" t="t" r="r" b="b"/>
              <a:pathLst>
                <a:path w="9144000" h="6096000">
                  <a:moveTo>
                    <a:pt x="0" y="0"/>
                  </a:moveTo>
                  <a:lnTo>
                    <a:pt x="9144000" y="0"/>
                  </a:lnTo>
                  <a:lnTo>
                    <a:pt x="9144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1764" b="-11764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3027721" y="1494053"/>
            <a:ext cx="12212279" cy="83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7"/>
              </a:lnSpc>
            </a:pPr>
            <a:r>
              <a:rPr lang="en-US" sz="1899" b="1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 air-gap-ready compliance and forensic screening engine designed to accelerate institutional approval scrutiny, targeting under 15 minutes per dossier with deterministic rule-based verification.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95300" y="2332377"/>
            <a:ext cx="9525000" cy="4003623"/>
            <a:chOff x="0" y="0"/>
            <a:chExt cx="12700000" cy="53381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700000" cy="5338164"/>
            </a:xfrm>
            <a:custGeom>
              <a:avLst/>
              <a:gdLst/>
              <a:ahLst/>
              <a:cxnLst/>
              <a:rect l="l" t="t" r="r" b="b"/>
              <a:pathLst>
                <a:path w="12700000" h="5338164">
                  <a:moveTo>
                    <a:pt x="0" y="889733"/>
                  </a:moveTo>
                  <a:cubicBezTo>
                    <a:pt x="0" y="398358"/>
                    <a:pt x="429133" y="0"/>
                    <a:pt x="958469" y="0"/>
                  </a:cubicBezTo>
                  <a:lnTo>
                    <a:pt x="11741531" y="0"/>
                  </a:lnTo>
                  <a:cubicBezTo>
                    <a:pt x="12270867" y="0"/>
                    <a:pt x="12700000" y="398358"/>
                    <a:pt x="12700000" y="889733"/>
                  </a:cubicBezTo>
                  <a:lnTo>
                    <a:pt x="12700000" y="4448431"/>
                  </a:lnTo>
                  <a:cubicBezTo>
                    <a:pt x="12700000" y="4939806"/>
                    <a:pt x="12270867" y="5338164"/>
                    <a:pt x="11741531" y="5338164"/>
                  </a:cubicBezTo>
                  <a:lnTo>
                    <a:pt x="958469" y="5338164"/>
                  </a:lnTo>
                  <a:cubicBezTo>
                    <a:pt x="429133" y="5338164"/>
                    <a:pt x="0" y="4939807"/>
                    <a:pt x="0" y="4448431"/>
                  </a:cubicBezTo>
                  <a:close/>
                </a:path>
              </a:pathLst>
            </a:custGeom>
            <a:solidFill>
              <a:srgbClr val="F8FAFC"/>
            </a:solidFill>
            <a:ln w="15240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2700000" cy="5376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The 4-Pillar Forensic Engine:</a:t>
              </a:r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Pixel-Level Forensic Scrutiny: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Multi-scale ELA (50/70/90) and noise analysis detect doctored dates, whiteout masking, and cloned municipal seals on Fire NOCs &amp; Land Deeds before OCR extraction.</a:t>
              </a:r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Deterministic APH Norms Solver: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Applies explicit mathematical constraints to FSR, cadre ratios, and carpet-area requirements, producing reproducible calculations and traceable rule-level results.</a:t>
              </a:r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Inter-Document Triangulation: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Graph-based cross-document entity matching detecting duplicate professors across colleges via Aadhaar/PAN hashing and safety capacity mismatches.</a:t>
              </a:r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Cryptographic Trust Bridge: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Decodes official QR seals and validates PAdES/PKCS#7 Digital Signatures offline (with planned DigiLocker &amp; State e-District API sync in connected environments).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95300" y="6457683"/>
            <a:ext cx="9525000" cy="2952779"/>
            <a:chOff x="0" y="0"/>
            <a:chExt cx="12700000" cy="393703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700000" cy="3937039"/>
            </a:xfrm>
            <a:custGeom>
              <a:avLst/>
              <a:gdLst/>
              <a:ahLst/>
              <a:cxnLst/>
              <a:rect l="l" t="t" r="r" b="b"/>
              <a:pathLst>
                <a:path w="12700000" h="3937039">
                  <a:moveTo>
                    <a:pt x="0" y="656217"/>
                  </a:moveTo>
                  <a:cubicBezTo>
                    <a:pt x="0" y="293830"/>
                    <a:pt x="283591" y="0"/>
                    <a:pt x="633349" y="0"/>
                  </a:cubicBezTo>
                  <a:lnTo>
                    <a:pt x="12066651" y="0"/>
                  </a:lnTo>
                  <a:cubicBezTo>
                    <a:pt x="12416409" y="0"/>
                    <a:pt x="12700000" y="293830"/>
                    <a:pt x="12700000" y="656217"/>
                  </a:cubicBezTo>
                  <a:lnTo>
                    <a:pt x="12700000" y="3280822"/>
                  </a:lnTo>
                  <a:cubicBezTo>
                    <a:pt x="12700000" y="3643209"/>
                    <a:pt x="12416409" y="3937039"/>
                    <a:pt x="12066651" y="3937039"/>
                  </a:cubicBezTo>
                  <a:lnTo>
                    <a:pt x="633349" y="3937039"/>
                  </a:lnTo>
                  <a:cubicBezTo>
                    <a:pt x="283591" y="3937039"/>
                    <a:pt x="0" y="3643209"/>
                    <a:pt x="0" y="3280822"/>
                  </a:cubicBezTo>
                  <a:close/>
                </a:path>
              </a:pathLst>
            </a:custGeom>
            <a:solidFill>
              <a:srgbClr val="F8FAFC"/>
            </a:solidFill>
            <a:ln w="15240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700000" cy="3975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Key Technical Innovations:</a:t>
              </a:r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Decoupled Architecture: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Isolates AI extraction from deterministic math rules for traceable decisions with rule-level audit logs.</a:t>
              </a:r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Forensics First: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Analyzes pixel compression artifacts &amp; EXIF before OCR extraction.</a:t>
              </a:r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Human-in-the-Loop: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Strictly an advisory assistant; final regulatory sign-off remains with AICTE.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233660" y="2332377"/>
            <a:ext cx="7604760" cy="2574873"/>
            <a:chOff x="0" y="0"/>
            <a:chExt cx="10139680" cy="34331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39680" cy="3433164"/>
            </a:xfrm>
            <a:custGeom>
              <a:avLst/>
              <a:gdLst/>
              <a:ahLst/>
              <a:cxnLst/>
              <a:rect l="l" t="t" r="r" b="b"/>
              <a:pathLst>
                <a:path w="10139680" h="3433164">
                  <a:moveTo>
                    <a:pt x="0" y="572234"/>
                  </a:moveTo>
                  <a:cubicBezTo>
                    <a:pt x="0" y="256161"/>
                    <a:pt x="269875" y="0"/>
                    <a:pt x="602869" y="0"/>
                  </a:cubicBezTo>
                  <a:lnTo>
                    <a:pt x="9536811" y="0"/>
                  </a:lnTo>
                  <a:cubicBezTo>
                    <a:pt x="9869805" y="0"/>
                    <a:pt x="10139680" y="256161"/>
                    <a:pt x="10139680" y="572234"/>
                  </a:cubicBezTo>
                  <a:lnTo>
                    <a:pt x="10139680" y="2860930"/>
                  </a:lnTo>
                  <a:cubicBezTo>
                    <a:pt x="10139680" y="3177003"/>
                    <a:pt x="9869805" y="3433164"/>
                    <a:pt x="9536811" y="3433164"/>
                  </a:cubicBezTo>
                  <a:lnTo>
                    <a:pt x="602869" y="3433164"/>
                  </a:lnTo>
                  <a:cubicBezTo>
                    <a:pt x="269875" y="3433164"/>
                    <a:pt x="0" y="3177003"/>
                    <a:pt x="0" y="2860930"/>
                  </a:cubicBezTo>
                  <a:close/>
                </a:path>
              </a:pathLst>
            </a:custGeom>
            <a:solidFill>
              <a:srgbClr val="F8FAFC"/>
            </a:solidFill>
            <a:ln w="15240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139680" cy="3471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Core Regulatory Impact:</a:t>
              </a:r>
            </a:p>
            <a:p>
              <a:pPr marL="410208" lvl="1" indent="-205104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Cuts Scrutiny Time by 90%: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Projected to accelerate the standard 14-day committee scrutiny cycle to under 15 minutes per college.</a:t>
              </a:r>
            </a:p>
            <a:p>
              <a:pPr marL="410208" lvl="1" indent="-205104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Prevents Approval Slippage: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Catches subtle digital manipulation, expired safety certificates, and unrecorded intake expansions.</a:t>
              </a:r>
            </a:p>
            <a:p>
              <a:pPr marL="410208" lvl="1" indent="-205104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Evidence-Linked Audit Trail: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Produces a structured deficiency matrix with rule-level statutory citations for objective review by Standing Hearing Committees (SHC).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26" b="-1369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14400" y="-85725"/>
            <a:ext cx="16459200" cy="1728788"/>
            <a:chOff x="0" y="0"/>
            <a:chExt cx="21945600" cy="2305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305050"/>
            </a:xfrm>
            <a:custGeom>
              <a:avLst/>
              <a:gdLst/>
              <a:ahLst/>
              <a:cxnLst/>
              <a:rect l="l" t="t" r="r" b="b"/>
              <a:pathLst>
                <a:path w="21945600" h="2305050">
                  <a:moveTo>
                    <a:pt x="0" y="0"/>
                  </a:moveTo>
                  <a:lnTo>
                    <a:pt x="21945600" y="0"/>
                  </a:lnTo>
                  <a:lnTo>
                    <a:pt x="21945600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381" b="-13538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14400" y="-100012"/>
            <a:ext cx="16459200" cy="1743075"/>
            <a:chOff x="0" y="0"/>
            <a:chExt cx="21945600" cy="2324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2324101"/>
            </a:xfrm>
            <a:custGeom>
              <a:avLst/>
              <a:gdLst/>
              <a:ahLst/>
              <a:cxnLst/>
              <a:rect l="l" t="t" r="r" b="b"/>
              <a:pathLst>
                <a:path w="21945600" h="2324101">
                  <a:moveTo>
                    <a:pt x="0" y="0"/>
                  </a:moveTo>
                  <a:lnTo>
                    <a:pt x="21945600" y="0"/>
                  </a:lnTo>
                  <a:lnTo>
                    <a:pt x="21945600" y="2324101"/>
                  </a:lnTo>
                  <a:lnTo>
                    <a:pt x="0" y="23241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3989" b="-133989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49300"/>
            </a:xfrm>
            <a:custGeom>
              <a:avLst/>
              <a:gdLst/>
              <a:ahLst/>
              <a:cxnLst/>
              <a:rect l="l" t="t" r="r" b="b"/>
              <a:pathLst>
                <a:path w="5689600" h="749300">
                  <a:moveTo>
                    <a:pt x="0" y="0"/>
                  </a:moveTo>
                  <a:lnTo>
                    <a:pt x="5689600" y="0"/>
                  </a:lnTo>
                  <a:lnTo>
                    <a:pt x="56896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850" b="-9785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106400" y="9505950"/>
            <a:ext cx="4267200" cy="576262"/>
            <a:chOff x="0" y="0"/>
            <a:chExt cx="5689600" cy="7683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285" b="-9428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670129" y="2248"/>
            <a:ext cx="3374803" cy="1593532"/>
            <a:chOff x="0" y="0"/>
            <a:chExt cx="4499737" cy="21247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9" b="-60"/>
              </a:stretch>
            </a:blipFill>
          </p:spPr>
        </p:sp>
      </p:grpSp>
      <p:sp>
        <p:nvSpPr>
          <p:cNvPr id="20" name="Freeform 20" descr="Your startup LOGO"/>
          <p:cNvSpPr/>
          <p:nvPr/>
        </p:nvSpPr>
        <p:spPr>
          <a:xfrm>
            <a:off x="77867" y="1343"/>
            <a:ext cx="2964180" cy="1989010"/>
          </a:xfrm>
          <a:custGeom>
            <a:avLst/>
            <a:gdLst/>
            <a:ahLst/>
            <a:cxnLst/>
            <a:rect l="l" t="t" r="r" b="b"/>
            <a:pathLst>
              <a:path w="2964180" h="1989010">
                <a:moveTo>
                  <a:pt x="0" y="0"/>
                </a:moveTo>
                <a:lnTo>
                  <a:pt x="2964180" y="0"/>
                </a:lnTo>
                <a:lnTo>
                  <a:pt x="2964180" y="1989011"/>
                </a:lnTo>
                <a:lnTo>
                  <a:pt x="0" y="1989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5" r="-85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92154" y="-27232"/>
            <a:ext cx="2935567" cy="2003346"/>
            <a:chOff x="0" y="0"/>
            <a:chExt cx="3914089" cy="26711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14140" cy="2671064"/>
            </a:xfrm>
            <a:custGeom>
              <a:avLst/>
              <a:gdLst/>
              <a:ahLst/>
              <a:cxnLst/>
              <a:rect l="l" t="t" r="r" b="b"/>
              <a:pathLst>
                <a:path w="3914140" h="2671064">
                  <a:moveTo>
                    <a:pt x="0" y="0"/>
                  </a:moveTo>
                  <a:lnTo>
                    <a:pt x="3914140" y="0"/>
                  </a:lnTo>
                  <a:lnTo>
                    <a:pt x="3914140" y="2671064"/>
                  </a:lnTo>
                  <a:lnTo>
                    <a:pt x="0" y="2671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619" r="-37618" b="-2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92154" y="-70094"/>
            <a:ext cx="2935567" cy="2046208"/>
            <a:chOff x="0" y="0"/>
            <a:chExt cx="3914089" cy="272827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14089" cy="2728277"/>
            </a:xfrm>
            <a:custGeom>
              <a:avLst/>
              <a:gdLst/>
              <a:ahLst/>
              <a:cxnLst/>
              <a:rect l="l" t="t" r="r" b="b"/>
              <a:pathLst>
                <a:path w="3914089" h="2728277">
                  <a:moveTo>
                    <a:pt x="0" y="0"/>
                  </a:moveTo>
                  <a:lnTo>
                    <a:pt x="3914089" y="0"/>
                  </a:lnTo>
                  <a:lnTo>
                    <a:pt x="3914089" y="2728277"/>
                  </a:lnTo>
                  <a:lnTo>
                    <a:pt x="0" y="27282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432" r="-3943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3914089" cy="2785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NAVDRISHTI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69548" y="7635240"/>
            <a:ext cx="1183958" cy="1297496"/>
            <a:chOff x="0" y="0"/>
            <a:chExt cx="1578610" cy="172999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78610" cy="1729994"/>
            </a:xfrm>
            <a:custGeom>
              <a:avLst/>
              <a:gdLst/>
              <a:ahLst/>
              <a:cxnLst/>
              <a:rect l="l" t="t" r="r" b="b"/>
              <a:pathLst>
                <a:path w="1578610" h="1729994">
                  <a:moveTo>
                    <a:pt x="0" y="0"/>
                  </a:moveTo>
                  <a:lnTo>
                    <a:pt x="1578610" y="0"/>
                  </a:lnTo>
                  <a:lnTo>
                    <a:pt x="1578610" y="1729994"/>
                  </a:lnTo>
                  <a:lnTo>
                    <a:pt x="0" y="17299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6" b="-16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453525" y="7635240"/>
            <a:ext cx="1400461" cy="1400461"/>
            <a:chOff x="0" y="0"/>
            <a:chExt cx="1867281" cy="186728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67281" cy="1867281"/>
            </a:xfrm>
            <a:custGeom>
              <a:avLst/>
              <a:gdLst/>
              <a:ahLst/>
              <a:cxnLst/>
              <a:rect l="l" t="t" r="r" b="b"/>
              <a:pathLst>
                <a:path w="1867281" h="1867281">
                  <a:moveTo>
                    <a:pt x="0" y="0"/>
                  </a:moveTo>
                  <a:lnTo>
                    <a:pt x="1867281" y="0"/>
                  </a:lnTo>
                  <a:lnTo>
                    <a:pt x="1867281" y="1867281"/>
                  </a:lnTo>
                  <a:lnTo>
                    <a:pt x="0" y="1867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2853957" y="7635240"/>
            <a:ext cx="2476405" cy="892397"/>
            <a:chOff x="0" y="0"/>
            <a:chExt cx="3301873" cy="118986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301873" cy="1189863"/>
            </a:xfrm>
            <a:custGeom>
              <a:avLst/>
              <a:gdLst/>
              <a:ahLst/>
              <a:cxnLst/>
              <a:rect l="l" t="t" r="r" b="b"/>
              <a:pathLst>
                <a:path w="3301873" h="1189863">
                  <a:moveTo>
                    <a:pt x="0" y="0"/>
                  </a:moveTo>
                  <a:lnTo>
                    <a:pt x="3301873" y="0"/>
                  </a:lnTo>
                  <a:lnTo>
                    <a:pt x="3301873" y="1189863"/>
                  </a:lnTo>
                  <a:lnTo>
                    <a:pt x="0" y="1189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39" b="-339"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5430345" y="7635240"/>
            <a:ext cx="703269" cy="930554"/>
          </a:xfrm>
          <a:custGeom>
            <a:avLst/>
            <a:gdLst/>
            <a:ahLst/>
            <a:cxnLst/>
            <a:rect l="l" t="t" r="r" b="b"/>
            <a:pathLst>
              <a:path w="703269" h="930554">
                <a:moveTo>
                  <a:pt x="0" y="0"/>
                </a:moveTo>
                <a:lnTo>
                  <a:pt x="703269" y="0"/>
                </a:lnTo>
                <a:lnTo>
                  <a:pt x="703269" y="930554"/>
                </a:lnTo>
                <a:lnTo>
                  <a:pt x="0" y="930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42" b="-42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6364776" y="7635240"/>
            <a:ext cx="1022699" cy="1022699"/>
            <a:chOff x="0" y="0"/>
            <a:chExt cx="1363599" cy="136359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63599" cy="1363599"/>
            </a:xfrm>
            <a:custGeom>
              <a:avLst/>
              <a:gdLst/>
              <a:ahLst/>
              <a:cxnLst/>
              <a:rect l="l" t="t" r="r" b="b"/>
              <a:pathLst>
                <a:path w="1363599" h="1363599">
                  <a:moveTo>
                    <a:pt x="0" y="0"/>
                  </a:moveTo>
                  <a:lnTo>
                    <a:pt x="1363599" y="0"/>
                  </a:lnTo>
                  <a:lnTo>
                    <a:pt x="1363599" y="1363599"/>
                  </a:lnTo>
                  <a:lnTo>
                    <a:pt x="0" y="1363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7616114" y="7635240"/>
            <a:ext cx="1041940" cy="1074230"/>
            <a:chOff x="0" y="0"/>
            <a:chExt cx="1389253" cy="143230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89253" cy="1432306"/>
            </a:xfrm>
            <a:custGeom>
              <a:avLst/>
              <a:gdLst/>
              <a:ahLst/>
              <a:cxnLst/>
              <a:rect l="l" t="t" r="r" b="b"/>
              <a:pathLst>
                <a:path w="1389253" h="1432306">
                  <a:moveTo>
                    <a:pt x="0" y="0"/>
                  </a:moveTo>
                  <a:lnTo>
                    <a:pt x="1389253" y="0"/>
                  </a:lnTo>
                  <a:lnTo>
                    <a:pt x="1389253" y="1432306"/>
                  </a:lnTo>
                  <a:lnTo>
                    <a:pt x="0" y="1432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2" r="-33"/>
              </a:stretch>
            </a:blipFill>
          </p:spPr>
        </p:sp>
      </p:grpSp>
      <p:sp>
        <p:nvSpPr>
          <p:cNvPr id="37" name="Freeform 37"/>
          <p:cNvSpPr/>
          <p:nvPr/>
        </p:nvSpPr>
        <p:spPr>
          <a:xfrm>
            <a:off x="8886682" y="7635240"/>
            <a:ext cx="2378345" cy="820531"/>
          </a:xfrm>
          <a:custGeom>
            <a:avLst/>
            <a:gdLst/>
            <a:ahLst/>
            <a:cxnLst/>
            <a:rect l="l" t="t" r="r" b="b"/>
            <a:pathLst>
              <a:path w="2378345" h="820531">
                <a:moveTo>
                  <a:pt x="0" y="0"/>
                </a:moveTo>
                <a:lnTo>
                  <a:pt x="2378345" y="0"/>
                </a:lnTo>
                <a:lnTo>
                  <a:pt x="2378345" y="820531"/>
                </a:lnTo>
                <a:lnTo>
                  <a:pt x="0" y="820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2174" b="-2173"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10541119" y="1645920"/>
            <a:ext cx="7564001" cy="6689550"/>
            <a:chOff x="0" y="0"/>
            <a:chExt cx="10546080" cy="93268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546080" cy="9326880"/>
            </a:xfrm>
            <a:custGeom>
              <a:avLst/>
              <a:gdLst/>
              <a:ahLst/>
              <a:cxnLst/>
              <a:rect l="l" t="t" r="r" b="b"/>
              <a:pathLst>
                <a:path w="10546080" h="9326880">
                  <a:moveTo>
                    <a:pt x="0" y="0"/>
                  </a:moveTo>
                  <a:lnTo>
                    <a:pt x="10546080" y="0"/>
                  </a:lnTo>
                  <a:lnTo>
                    <a:pt x="10546080" y="9326880"/>
                  </a:lnTo>
                  <a:lnTo>
                    <a:pt x="0" y="932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463" r="-2463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495300" y="2182515"/>
            <a:ext cx="9525000" cy="5186025"/>
            <a:chOff x="0" y="0"/>
            <a:chExt cx="12700000" cy="69147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700000" cy="6914700"/>
            </a:xfrm>
            <a:custGeom>
              <a:avLst/>
              <a:gdLst/>
              <a:ahLst/>
              <a:cxnLst/>
              <a:rect l="l" t="t" r="r" b="b"/>
              <a:pathLst>
                <a:path w="12700000" h="6914700">
                  <a:moveTo>
                    <a:pt x="0" y="1152491"/>
                  </a:moveTo>
                  <a:cubicBezTo>
                    <a:pt x="0" y="515924"/>
                    <a:pt x="538226" y="0"/>
                    <a:pt x="1202309" y="0"/>
                  </a:cubicBezTo>
                  <a:lnTo>
                    <a:pt x="11497691" y="0"/>
                  </a:lnTo>
                  <a:cubicBezTo>
                    <a:pt x="12161774" y="0"/>
                    <a:pt x="12700000" y="515924"/>
                    <a:pt x="12700000" y="1152491"/>
                  </a:cubicBezTo>
                  <a:lnTo>
                    <a:pt x="12700000" y="5762210"/>
                  </a:lnTo>
                  <a:cubicBezTo>
                    <a:pt x="12700000" y="6398654"/>
                    <a:pt x="12161774" y="6914700"/>
                    <a:pt x="11497691" y="6914700"/>
                  </a:cubicBezTo>
                  <a:lnTo>
                    <a:pt x="1202309" y="6914700"/>
                  </a:lnTo>
                  <a:cubicBezTo>
                    <a:pt x="538226" y="6914700"/>
                    <a:pt x="0" y="6398776"/>
                    <a:pt x="0" y="5762210"/>
                  </a:cubicBezTo>
                  <a:close/>
                </a:path>
              </a:pathLst>
            </a:custGeom>
            <a:solidFill>
              <a:srgbClr val="F8FAFC"/>
            </a:solidFill>
            <a:ln w="15240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2700000" cy="695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Architectural Layers &amp; Technologies to be Used:</a:t>
              </a:r>
            </a:p>
            <a:p>
              <a:pPr algn="l">
                <a:lnSpc>
                  <a:spcPts val="2279"/>
                </a:lnSpc>
              </a:pPr>
              <a:endParaRPr lang="en-US" sz="2400" b="1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marL="410209" lvl="1" indent="-205105" algn="l">
                <a:lnSpc>
                  <a:spcPts val="2279"/>
                </a:lnSpc>
                <a:buAutoNum type="arabicPeriod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Forensics &amp; Vision Layer: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PyTorch (EfficientNet-B0 visual forgery CNN), OpenCV (Multi-scale ELA &amp; morphological filtering), PyHanko (PAdES Digital Signature verification), PyZbar (QR seals).</a:t>
              </a:r>
            </a:p>
            <a:p>
              <a:pPr marL="410209" lvl="1" indent="-205105" algn="l">
                <a:lnSpc>
                  <a:spcPts val="2279"/>
                </a:lnSpc>
                <a:buAutoNum type="arabicPeriod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Ingestion &amp; Extraction: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PyMuPDF (300-DPI page rendering and multi-page processing), EasyOCR (Full-page tables &amp; layout), TrOCR (Reserved strictly for cropped anomalous signatures &amp; dates).</a:t>
              </a:r>
            </a:p>
            <a:p>
              <a:pPr marL="410209" lvl="1" indent="-205105" algn="l">
                <a:lnSpc>
                  <a:spcPts val="2279"/>
                </a:lnSpc>
                <a:buAutoNum type="arabicPeriod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Serving &amp; Scrutiny Cockpit: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FastAPI (Async microservice architecture), Redis (Queue worker), PostgreSQL (Tamper-evident audit logs), React.js (Scrutiny Officer Cockpit with pixel heatmap overlays).</a:t>
              </a:r>
            </a:p>
            <a:p>
              <a:pPr marL="410209" lvl="1" indent="-205105" algn="l">
                <a:lnSpc>
                  <a:spcPts val="2279"/>
                </a:lnSpc>
                <a:buAutoNum type="arabicPeriod"/>
              </a:pPr>
              <a:r>
                <a:rPr lang="en-US" sz="1899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Air-Gapped &amp; On-Premises Ready: </a:t>
              </a:r>
              <a:r>
                <a:rPr lang="en-US" sz="1899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Engineered for secure self-hosted deployment on AICTE servers; zero sensitive institutional data (faculty Aadhaar, financial deeds) is transmitted to third-party commercial APIs.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26" b="-1369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14400" y="-92869"/>
            <a:ext cx="16459200" cy="1735931"/>
            <a:chOff x="0" y="0"/>
            <a:chExt cx="21945600" cy="2314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618" b="-13461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14400" y="-114300"/>
            <a:ext cx="16459200" cy="1757362"/>
            <a:chOff x="0" y="0"/>
            <a:chExt cx="21945600" cy="2343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2343150"/>
            </a:xfrm>
            <a:custGeom>
              <a:avLst/>
              <a:gdLst/>
              <a:ahLst/>
              <a:cxnLst/>
              <a:rect l="l" t="t" r="r" b="b"/>
              <a:pathLst>
                <a:path w="21945600" h="2343150">
                  <a:moveTo>
                    <a:pt x="0" y="0"/>
                  </a:moveTo>
                  <a:lnTo>
                    <a:pt x="21945600" y="0"/>
                  </a:lnTo>
                  <a:lnTo>
                    <a:pt x="21945600" y="2343150"/>
                  </a:lnTo>
                  <a:lnTo>
                    <a:pt x="0" y="2343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2494" b="-13249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1945600" cy="237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49300"/>
            </a:xfrm>
            <a:custGeom>
              <a:avLst/>
              <a:gdLst/>
              <a:ahLst/>
              <a:cxnLst/>
              <a:rect l="l" t="t" r="r" b="b"/>
              <a:pathLst>
                <a:path w="5689600" h="749300">
                  <a:moveTo>
                    <a:pt x="0" y="0"/>
                  </a:moveTo>
                  <a:lnTo>
                    <a:pt x="5689600" y="0"/>
                  </a:lnTo>
                  <a:lnTo>
                    <a:pt x="56896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850" b="-9785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106400" y="9505950"/>
            <a:ext cx="4267200" cy="576262"/>
            <a:chOff x="0" y="0"/>
            <a:chExt cx="5689600" cy="7683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285" b="-9428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670129" y="2248"/>
            <a:ext cx="3374803" cy="1593532"/>
            <a:chOff x="0" y="0"/>
            <a:chExt cx="4499737" cy="21247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9" b="-60"/>
              </a:stretch>
            </a:blipFill>
          </p:spPr>
        </p:sp>
      </p:grp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9154932" y="5208536"/>
          <a:ext cx="8890000" cy="4271962"/>
        </p:xfrm>
        <a:graphic>
          <a:graphicData uri="http://schemas.openxmlformats.org/drawingml/2006/table">
            <a:tbl>
              <a:tblPr/>
              <a:tblGrid>
                <a:gridCol w="3855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4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7030">
                <a:tc>
                  <a:txBody>
                    <a:bodyPr/>
                    <a:lstStyle/>
                    <a:p>
                      <a:pPr algn="ctr">
                        <a:lnSpc>
                          <a:spcPts val="361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Viability &amp; Scale Dimension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1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Engineering Mitigation Strategy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2666">
                <a:tc>
                  <a:txBody>
                    <a:bodyPr/>
                    <a:lstStyle/>
                    <a:p>
                      <a:pPr algn="l">
                        <a:lnSpc>
                          <a:spcPts val="2605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Infrastructure &amp; Cost Viability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221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Zero GPU Dependency: Operates on standard 4-core CPU (&lt;1.5 GB RAM); projected ~85% compute cost reduction compared to dedicated cloud GPU clusters (commodity CPU baseline).</a:t>
                      </a:r>
                      <a:endParaRPr lang="en-US" sz="1100" dirty="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6133">
                <a:tc>
                  <a:txBody>
                    <a:bodyPr/>
                    <a:lstStyle/>
                    <a:p>
                      <a:pPr algn="l">
                        <a:lnSpc>
                          <a:spcPts val="2605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 Sovereignty &amp; Cert-In Compliance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221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Air-Gapped On-Premises Deployment: Self-hosted inside NIC/AICTE data centers; sensitive PII (PAN/biometrics) never leaves government servers.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6133">
                <a:tc>
                  <a:txBody>
                    <a:bodyPr/>
                    <a:lstStyle/>
                    <a:p>
                      <a:pPr algn="l">
                        <a:lnSpc>
                          <a:spcPts val="2605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Throughput &amp; Peak-Season Elasticity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221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Projected Target Throughput: ~800 dossiers/day per 4-core node (assumes avg. 200-page dossier; stateless Redis + </a:t>
                      </a:r>
                      <a:r>
                        <a:rPr lang="en-US" sz="1800" dirty="0" err="1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FastAPI</a:t>
                      </a:r>
                      <a:r>
                        <a:rPr lang="en-US" sz="1800" dirty="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async worker scaling).</a:t>
                      </a:r>
                      <a:endParaRPr lang="en-US" sz="1100" dirty="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Freeform 21" descr="Your startup LOGO"/>
          <p:cNvSpPr/>
          <p:nvPr/>
        </p:nvSpPr>
        <p:spPr>
          <a:xfrm>
            <a:off x="77867" y="1343"/>
            <a:ext cx="2964180" cy="1989010"/>
          </a:xfrm>
          <a:custGeom>
            <a:avLst/>
            <a:gdLst/>
            <a:ahLst/>
            <a:cxnLst/>
            <a:rect l="l" t="t" r="r" b="b"/>
            <a:pathLst>
              <a:path w="2964180" h="1989010">
                <a:moveTo>
                  <a:pt x="0" y="0"/>
                </a:moveTo>
                <a:lnTo>
                  <a:pt x="2964180" y="0"/>
                </a:lnTo>
                <a:lnTo>
                  <a:pt x="2964180" y="1989011"/>
                </a:lnTo>
                <a:lnTo>
                  <a:pt x="0" y="1989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5" r="-85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92154" y="-27232"/>
            <a:ext cx="2935567" cy="2003346"/>
            <a:chOff x="0" y="0"/>
            <a:chExt cx="3914089" cy="26711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914140" cy="2671064"/>
            </a:xfrm>
            <a:custGeom>
              <a:avLst/>
              <a:gdLst/>
              <a:ahLst/>
              <a:cxnLst/>
              <a:rect l="l" t="t" r="r" b="b"/>
              <a:pathLst>
                <a:path w="3914140" h="2671064">
                  <a:moveTo>
                    <a:pt x="0" y="0"/>
                  </a:moveTo>
                  <a:lnTo>
                    <a:pt x="3914140" y="0"/>
                  </a:lnTo>
                  <a:lnTo>
                    <a:pt x="3914140" y="2671064"/>
                  </a:lnTo>
                  <a:lnTo>
                    <a:pt x="0" y="2671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619" r="-37618" b="-2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92154" y="-70094"/>
            <a:ext cx="2935567" cy="2046208"/>
            <a:chOff x="0" y="0"/>
            <a:chExt cx="3914089" cy="272827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14089" cy="2728277"/>
            </a:xfrm>
            <a:custGeom>
              <a:avLst/>
              <a:gdLst/>
              <a:ahLst/>
              <a:cxnLst/>
              <a:rect l="l" t="t" r="r" b="b"/>
              <a:pathLst>
                <a:path w="3914089" h="2728277">
                  <a:moveTo>
                    <a:pt x="0" y="0"/>
                  </a:moveTo>
                  <a:lnTo>
                    <a:pt x="3914089" y="0"/>
                  </a:lnTo>
                  <a:lnTo>
                    <a:pt x="3914089" y="2728277"/>
                  </a:lnTo>
                  <a:lnTo>
                    <a:pt x="0" y="27282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432" r="-3943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3914089" cy="2785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NAVDRISHTI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2131509"/>
            <a:ext cx="8427720" cy="3717873"/>
            <a:chOff x="0" y="0"/>
            <a:chExt cx="11236960" cy="495716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236961" cy="4957164"/>
            </a:xfrm>
            <a:custGeom>
              <a:avLst/>
              <a:gdLst/>
              <a:ahLst/>
              <a:cxnLst/>
              <a:rect l="l" t="t" r="r" b="b"/>
              <a:pathLst>
                <a:path w="11236961" h="4957164">
                  <a:moveTo>
                    <a:pt x="0" y="826237"/>
                  </a:moveTo>
                  <a:cubicBezTo>
                    <a:pt x="0" y="369859"/>
                    <a:pt x="365379" y="0"/>
                    <a:pt x="816229" y="0"/>
                  </a:cubicBezTo>
                  <a:lnTo>
                    <a:pt x="10420731" y="0"/>
                  </a:lnTo>
                  <a:cubicBezTo>
                    <a:pt x="10871454" y="0"/>
                    <a:pt x="11236961" y="369859"/>
                    <a:pt x="11236961" y="826237"/>
                  </a:cubicBezTo>
                  <a:lnTo>
                    <a:pt x="11236961" y="4130927"/>
                  </a:lnTo>
                  <a:cubicBezTo>
                    <a:pt x="11236961" y="4587177"/>
                    <a:pt x="10871581" y="4957164"/>
                    <a:pt x="10420731" y="4957164"/>
                  </a:cubicBezTo>
                  <a:lnTo>
                    <a:pt x="816229" y="4957164"/>
                  </a:lnTo>
                  <a:cubicBezTo>
                    <a:pt x="365379" y="4957165"/>
                    <a:pt x="0" y="4587306"/>
                    <a:pt x="0" y="4130927"/>
                  </a:cubicBezTo>
                  <a:close/>
                </a:path>
              </a:pathLst>
            </a:custGeom>
            <a:solidFill>
              <a:srgbClr val="F8FAFC"/>
            </a:solidFill>
            <a:ln w="15240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1236960" cy="4995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Analysis of Feasibility:</a:t>
              </a:r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 dirty="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Feasibility: </a:t>
              </a:r>
              <a:r>
                <a:rPr lang="en-US" sz="1899" dirty="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on standard, battle-tested computer-vision algorithms (ELA, CNN, constraint solvers) requiring no specialized supercomputing hardware.</a:t>
              </a:r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 dirty="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Operational Feasibility: </a:t>
              </a:r>
              <a:r>
                <a:rPr lang="en-US" sz="1899" dirty="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Seamlessly integrates with existing web portals as an asynchronous REST API microservice without altering institutional submission workflows.</a:t>
              </a:r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 dirty="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Legal &amp; Standards Alignment: </a:t>
              </a:r>
              <a:r>
                <a:rPr lang="en-US" sz="1899" dirty="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Implements cryptographic verification workflows informed by applicable electronic-signature requirements and relevant PDF signature standards (</a:t>
              </a:r>
              <a:r>
                <a:rPr lang="en-US" sz="1899" dirty="0" err="1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PAdES</a:t>
              </a:r>
              <a:r>
                <a:rPr lang="en-US" sz="1899" dirty="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/ ISO 32000-1).</a:t>
              </a:r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 b="1" dirty="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Footprint: </a:t>
              </a:r>
              <a:r>
                <a:rPr lang="en-US" sz="1899" dirty="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Operates on standard 4-core cloud/on-prem CPU • &lt; 1.5 GB RAM footprint • Zero GPU dependency.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95300" y="5990538"/>
            <a:ext cx="8427720" cy="3489960"/>
            <a:chOff x="0" y="0"/>
            <a:chExt cx="11236960" cy="46532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236960" cy="4653280"/>
            </a:xfrm>
            <a:custGeom>
              <a:avLst/>
              <a:gdLst/>
              <a:ahLst/>
              <a:cxnLst/>
              <a:rect l="l" t="t" r="r" b="b"/>
              <a:pathLst>
                <a:path w="11236960" h="4653280">
                  <a:moveTo>
                    <a:pt x="0" y="775589"/>
                  </a:moveTo>
                  <a:cubicBezTo>
                    <a:pt x="0" y="347218"/>
                    <a:pt x="347218" y="0"/>
                    <a:pt x="775589" y="0"/>
                  </a:cubicBezTo>
                  <a:lnTo>
                    <a:pt x="10461371" y="0"/>
                  </a:lnTo>
                  <a:cubicBezTo>
                    <a:pt x="10889742" y="0"/>
                    <a:pt x="11236960" y="347218"/>
                    <a:pt x="11236960" y="775589"/>
                  </a:cubicBezTo>
                  <a:lnTo>
                    <a:pt x="11236960" y="3877691"/>
                  </a:lnTo>
                  <a:cubicBezTo>
                    <a:pt x="11236960" y="4306062"/>
                    <a:pt x="10889742" y="4653280"/>
                    <a:pt x="10461371" y="4653280"/>
                  </a:cubicBezTo>
                  <a:lnTo>
                    <a:pt x="775589" y="4653280"/>
                  </a:lnTo>
                  <a:cubicBezTo>
                    <a:pt x="347218" y="4653280"/>
                    <a:pt x="0" y="4306062"/>
                    <a:pt x="0" y="3877691"/>
                  </a:cubicBezTo>
                  <a:close/>
                </a:path>
              </a:pathLst>
            </a:custGeom>
            <a:solidFill>
              <a:srgbClr val="F8FAFC"/>
            </a:solidFill>
            <a:ln w="15240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1236960" cy="4691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Potential Challenges &amp; Risks:</a:t>
              </a:r>
            </a:p>
            <a:p>
              <a:pPr marL="388620" lvl="1" indent="-194310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1 (Document Diversity &amp; Scan Quality): </a:t>
              </a: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Low-DPI scans, mobile camera distortions, or wrinkled physical paper uploads causing false alarms.</a:t>
              </a:r>
            </a:p>
            <a:p>
              <a:pPr marL="388620" lvl="1" indent="-194310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2 (Adverse Regulatory Misjudgement): </a:t>
              </a: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 of an AI algorithm incorrectly rejecting an institution's application.</a:t>
              </a:r>
            </a:p>
            <a:p>
              <a:pPr marL="388620" lvl="1" indent="-194310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3 (High Submission Volume): </a:t>
              </a: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Peak-load bottleneck when thousands of institutions submit EoA applications in April–May.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154932" y="2131509"/>
            <a:ext cx="8610600" cy="2972459"/>
            <a:chOff x="0" y="0"/>
            <a:chExt cx="11480800" cy="396327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480800" cy="3963278"/>
            </a:xfrm>
            <a:custGeom>
              <a:avLst/>
              <a:gdLst/>
              <a:ahLst/>
              <a:cxnLst/>
              <a:rect l="l" t="t" r="r" b="b"/>
              <a:pathLst>
                <a:path w="11480800" h="3963278">
                  <a:moveTo>
                    <a:pt x="0" y="660593"/>
                  </a:moveTo>
                  <a:cubicBezTo>
                    <a:pt x="0" y="295715"/>
                    <a:pt x="269875" y="0"/>
                    <a:pt x="602869" y="0"/>
                  </a:cubicBezTo>
                  <a:lnTo>
                    <a:pt x="10877931" y="0"/>
                  </a:lnTo>
                  <a:cubicBezTo>
                    <a:pt x="11210925" y="0"/>
                    <a:pt x="11480800" y="295715"/>
                    <a:pt x="11480800" y="660593"/>
                  </a:cubicBezTo>
                  <a:lnTo>
                    <a:pt x="11480800" y="3302685"/>
                  </a:lnTo>
                  <a:cubicBezTo>
                    <a:pt x="11480800" y="3667563"/>
                    <a:pt x="11210925" y="3963278"/>
                    <a:pt x="10877931" y="3963278"/>
                  </a:cubicBezTo>
                  <a:lnTo>
                    <a:pt x="602869" y="3963278"/>
                  </a:lnTo>
                  <a:cubicBezTo>
                    <a:pt x="269875" y="3963278"/>
                    <a:pt x="0" y="3667563"/>
                    <a:pt x="0" y="3302685"/>
                  </a:cubicBezTo>
                  <a:close/>
                </a:path>
              </a:pathLst>
            </a:custGeom>
            <a:solidFill>
              <a:srgbClr val="F8FAFC"/>
            </a:solidFill>
            <a:ln w="15240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1480800" cy="40013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Engineering Mitigation Strategies:</a:t>
              </a:r>
            </a:p>
            <a:p>
              <a:pPr marL="388620" lvl="1" indent="-194310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dirty="0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 1 (Robust Preprocessing): </a:t>
              </a:r>
              <a:r>
                <a:rPr lang="en-US" sz="1800" dirty="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Adaptive Median Absolute Deviation (MAD) normalization and multi-probe ELA (qualities 50, 70, 90) to help reduce false positives on authentic scanned documents.</a:t>
              </a:r>
            </a:p>
            <a:p>
              <a:pPr marL="388620" lvl="1" indent="-194310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dirty="0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 2 (Strict Advisory Mode): </a:t>
              </a:r>
              <a:r>
                <a:rPr lang="en-US" sz="1800" dirty="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Outputs flags (VERIFIED, ANOMALY, MANUAL-REVIEW-REQUIRED). Final regulatory action strictly requires human scrutiny officer sign-off.</a:t>
              </a:r>
            </a:p>
            <a:p>
              <a:pPr marL="388620" lvl="1" indent="-194310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dirty="0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 3 (Asynchronous Queue Architecture): </a:t>
              </a:r>
              <a:r>
                <a:rPr lang="en-US" sz="1800" dirty="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Redis job queuing, stateless horizontal </a:t>
              </a:r>
              <a:r>
                <a:rPr lang="en-US" sz="1800" dirty="0" err="1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FastAPI</a:t>
              </a:r>
              <a:r>
                <a:rPr lang="en-US" sz="1800" dirty="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workers, and parallelized multi-page chunking (&lt;1.8s/page on 4-core CPU).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26" b="-1369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14400" y="-92869"/>
            <a:ext cx="16459200" cy="1735931"/>
            <a:chOff x="0" y="0"/>
            <a:chExt cx="21945600" cy="2314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618" b="-13461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14400" y="-114300"/>
            <a:ext cx="16459200" cy="1757362"/>
            <a:chOff x="0" y="0"/>
            <a:chExt cx="21945600" cy="2343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2343150"/>
            </a:xfrm>
            <a:custGeom>
              <a:avLst/>
              <a:gdLst/>
              <a:ahLst/>
              <a:cxnLst/>
              <a:rect l="l" t="t" r="r" b="b"/>
              <a:pathLst>
                <a:path w="21945600" h="2343150">
                  <a:moveTo>
                    <a:pt x="0" y="0"/>
                  </a:moveTo>
                  <a:lnTo>
                    <a:pt x="21945600" y="0"/>
                  </a:lnTo>
                  <a:lnTo>
                    <a:pt x="21945600" y="2343150"/>
                  </a:lnTo>
                  <a:lnTo>
                    <a:pt x="0" y="2343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2494" b="-13249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1945600" cy="237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49300"/>
            </a:xfrm>
            <a:custGeom>
              <a:avLst/>
              <a:gdLst/>
              <a:ahLst/>
              <a:cxnLst/>
              <a:rect l="l" t="t" r="r" b="b"/>
              <a:pathLst>
                <a:path w="5689600" h="749300">
                  <a:moveTo>
                    <a:pt x="0" y="0"/>
                  </a:moveTo>
                  <a:lnTo>
                    <a:pt x="5689600" y="0"/>
                  </a:lnTo>
                  <a:lnTo>
                    <a:pt x="56896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850" b="-9785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106400" y="9505950"/>
            <a:ext cx="4267200" cy="576262"/>
            <a:chOff x="0" y="0"/>
            <a:chExt cx="5689600" cy="7683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285" b="-9428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670129" y="2248"/>
            <a:ext cx="3374803" cy="1593532"/>
            <a:chOff x="0" y="0"/>
            <a:chExt cx="4499737" cy="21247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9" b="-60"/>
              </a:stretch>
            </a:blipFill>
          </p:spPr>
        </p:sp>
      </p:grpSp>
      <p:sp>
        <p:nvSpPr>
          <p:cNvPr id="20" name="Freeform 20" descr="Your startup LOGO"/>
          <p:cNvSpPr/>
          <p:nvPr/>
        </p:nvSpPr>
        <p:spPr>
          <a:xfrm>
            <a:off x="77867" y="1343"/>
            <a:ext cx="2964180" cy="1989010"/>
          </a:xfrm>
          <a:custGeom>
            <a:avLst/>
            <a:gdLst/>
            <a:ahLst/>
            <a:cxnLst/>
            <a:rect l="l" t="t" r="r" b="b"/>
            <a:pathLst>
              <a:path w="2964180" h="1989010">
                <a:moveTo>
                  <a:pt x="0" y="0"/>
                </a:moveTo>
                <a:lnTo>
                  <a:pt x="2964180" y="0"/>
                </a:lnTo>
                <a:lnTo>
                  <a:pt x="2964180" y="1989011"/>
                </a:lnTo>
                <a:lnTo>
                  <a:pt x="0" y="1989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5" r="-85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92154" y="-27232"/>
            <a:ext cx="2935567" cy="2003346"/>
            <a:chOff x="0" y="0"/>
            <a:chExt cx="3914089" cy="26711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14140" cy="2671064"/>
            </a:xfrm>
            <a:custGeom>
              <a:avLst/>
              <a:gdLst/>
              <a:ahLst/>
              <a:cxnLst/>
              <a:rect l="l" t="t" r="r" b="b"/>
              <a:pathLst>
                <a:path w="3914140" h="2671064">
                  <a:moveTo>
                    <a:pt x="0" y="0"/>
                  </a:moveTo>
                  <a:lnTo>
                    <a:pt x="3914140" y="0"/>
                  </a:lnTo>
                  <a:lnTo>
                    <a:pt x="3914140" y="2671064"/>
                  </a:lnTo>
                  <a:lnTo>
                    <a:pt x="0" y="2671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619" r="-37618" b="-2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92154" y="-70094"/>
            <a:ext cx="2935567" cy="2046208"/>
            <a:chOff x="0" y="0"/>
            <a:chExt cx="3914089" cy="272827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14089" cy="2728278"/>
            </a:xfrm>
            <a:custGeom>
              <a:avLst/>
              <a:gdLst/>
              <a:ahLst/>
              <a:cxnLst/>
              <a:rect l="l" t="t" r="r" b="b"/>
              <a:pathLst>
                <a:path w="3914089" h="2728278">
                  <a:moveTo>
                    <a:pt x="0" y="0"/>
                  </a:moveTo>
                  <a:lnTo>
                    <a:pt x="3914089" y="0"/>
                  </a:lnTo>
                  <a:lnTo>
                    <a:pt x="3914089" y="2728278"/>
                  </a:lnTo>
                  <a:lnTo>
                    <a:pt x="0" y="2728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432" r="-3943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3914089" cy="2785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NAVDRISHTI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1523484" y="2152624"/>
            <a:ext cx="4734807" cy="1687856"/>
          </a:xfrm>
          <a:custGeom>
            <a:avLst/>
            <a:gdLst/>
            <a:ahLst/>
            <a:cxnLst/>
            <a:rect l="l" t="t" r="r" b="b"/>
            <a:pathLst>
              <a:path w="4734807" h="1687856">
                <a:moveTo>
                  <a:pt x="0" y="0"/>
                </a:moveTo>
                <a:lnTo>
                  <a:pt x="4734808" y="0"/>
                </a:lnTo>
                <a:lnTo>
                  <a:pt x="4734808" y="1687856"/>
                </a:lnTo>
                <a:lnTo>
                  <a:pt x="0" y="1687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809750" y="2152626"/>
            <a:ext cx="4438212" cy="1687854"/>
            <a:chOff x="0" y="0"/>
            <a:chExt cx="5917616" cy="22504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917616" cy="2250466"/>
            </a:xfrm>
            <a:custGeom>
              <a:avLst/>
              <a:gdLst/>
              <a:ahLst/>
              <a:cxnLst/>
              <a:rect l="l" t="t" r="r" b="b"/>
              <a:pathLst>
                <a:path w="5917616" h="2250466">
                  <a:moveTo>
                    <a:pt x="0" y="0"/>
                  </a:moveTo>
                  <a:lnTo>
                    <a:pt x="5917616" y="0"/>
                  </a:lnTo>
                  <a:lnTo>
                    <a:pt x="5917616" y="2250466"/>
                  </a:lnTo>
                  <a:lnTo>
                    <a:pt x="0" y="2250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29" r="-5647" b="-412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917616" cy="22885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8"/>
                </a:lnSpc>
              </a:pPr>
              <a:r>
                <a:rPr lang="en-US" sz="2400" b="1">
                  <a:solidFill>
                    <a:srgbClr val="0284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90% Time Reduction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Projected workflow acceleration: Targets reducing institutional dossier scrutiny from a 14-day manual cycle to under 15 minutes per college.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6790887" y="1956435"/>
            <a:ext cx="4707826" cy="1773479"/>
          </a:xfrm>
          <a:custGeom>
            <a:avLst/>
            <a:gdLst/>
            <a:ahLst/>
            <a:cxnLst/>
            <a:rect l="l" t="t" r="r" b="b"/>
            <a:pathLst>
              <a:path w="4707826" h="1773479">
                <a:moveTo>
                  <a:pt x="0" y="0"/>
                </a:moveTo>
                <a:lnTo>
                  <a:pt x="4707826" y="0"/>
                </a:lnTo>
                <a:lnTo>
                  <a:pt x="4707826" y="1773479"/>
                </a:lnTo>
                <a:lnTo>
                  <a:pt x="0" y="17734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6949850" y="1990354"/>
            <a:ext cx="4539393" cy="1783104"/>
            <a:chOff x="0" y="0"/>
            <a:chExt cx="6052524" cy="23774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052524" cy="2377466"/>
            </a:xfrm>
            <a:custGeom>
              <a:avLst/>
              <a:gdLst/>
              <a:ahLst/>
              <a:cxnLst/>
              <a:rect l="l" t="t" r="r" b="b"/>
              <a:pathLst>
                <a:path w="6052524" h="2377466">
                  <a:moveTo>
                    <a:pt x="0" y="0"/>
                  </a:moveTo>
                  <a:lnTo>
                    <a:pt x="6052524" y="0"/>
                  </a:lnTo>
                  <a:lnTo>
                    <a:pt x="6052524" y="2377466"/>
                  </a:lnTo>
                  <a:lnTo>
                    <a:pt x="0" y="2377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37" r="-3292" b="-123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6052524" cy="24155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8"/>
                </a:lnSpc>
              </a:pPr>
              <a:r>
                <a:rPr lang="en-US" sz="2400" b="1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Cross-Institutional Faculty Duplicate Detection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Aadhaar / PAN Duplicate Flagging Rate across institutions via cross-entity graph matching.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1882663" y="2072569"/>
            <a:ext cx="4961891" cy="1751269"/>
          </a:xfrm>
          <a:custGeom>
            <a:avLst/>
            <a:gdLst/>
            <a:ahLst/>
            <a:cxnLst/>
            <a:rect l="l" t="t" r="r" b="b"/>
            <a:pathLst>
              <a:path w="4961891" h="1751269">
                <a:moveTo>
                  <a:pt x="0" y="0"/>
                </a:moveTo>
                <a:lnTo>
                  <a:pt x="4961892" y="0"/>
                </a:lnTo>
                <a:lnTo>
                  <a:pt x="4961892" y="1751269"/>
                </a:lnTo>
                <a:lnTo>
                  <a:pt x="0" y="17512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2032113" y="2152624"/>
            <a:ext cx="4961891" cy="1671214"/>
            <a:chOff x="0" y="0"/>
            <a:chExt cx="6615855" cy="222828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615854" cy="2228279"/>
            </a:xfrm>
            <a:custGeom>
              <a:avLst/>
              <a:gdLst/>
              <a:ahLst/>
              <a:cxnLst/>
              <a:rect l="l" t="t" r="r" b="b"/>
              <a:pathLst>
                <a:path w="6615854" h="2228279">
                  <a:moveTo>
                    <a:pt x="0" y="0"/>
                  </a:moveTo>
                  <a:lnTo>
                    <a:pt x="6615854" y="0"/>
                  </a:lnTo>
                  <a:lnTo>
                    <a:pt x="6615854" y="2228279"/>
                  </a:lnTo>
                  <a:lnTo>
                    <a:pt x="0" y="22282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68" r="5502" b="-4668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615855" cy="22663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8"/>
                </a:lnSpc>
              </a:pPr>
              <a:r>
                <a:rPr lang="en-US" sz="2400" b="1">
                  <a:solidFill>
                    <a:srgbClr val="9333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Evidence-Linked Audit Trail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Deficiency citations tied directly to statutory APH clauses, supporting objective, defensible review during institutional hearings.</a:t>
              </a:r>
            </a:p>
          </p:txBody>
        </p:sp>
      </p:grpSp>
      <p:graphicFrame>
        <p:nvGraphicFramePr>
          <p:cNvPr id="38" name="Table 38"/>
          <p:cNvGraphicFramePr>
            <a:graphicFrameLocks noGrp="1"/>
          </p:cNvGraphicFramePr>
          <p:nvPr/>
        </p:nvGraphicFramePr>
        <p:xfrm>
          <a:off x="1809750" y="4488180"/>
          <a:ext cx="14668500" cy="4521198"/>
        </p:xfrm>
        <a:graphic>
          <a:graphicData uri="http://schemas.openxmlformats.org/drawingml/2006/table">
            <a:tbl>
              <a:tblPr/>
              <a:tblGrid>
                <a:gridCol w="3278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4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9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3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41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Inspection Parameter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Mandatory APH Norm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Extracted / Computed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Status Flag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Evidence &amp; Statutory Rule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9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Faculty-to-Student Ratio (FSR)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Max 1 : 20 (B.Tech Engg)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: 18.2 (52 Faculty, 946 Students)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 COMPLIANT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APH 2024–27 Clause 7.1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9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Cadre Ratio (Prof : Assoc : Asst)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: 2 : 6 mandatory ratio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: 2 : 7 (Zero Professors Found)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DC26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 DEFICIENT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APH Norms Table 2.1 (Deficiency)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41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Fire Safety NOC Expiry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 on date of scrutiny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Expired: 12-Dec-2025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D9770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 ANOMALY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Page 4 (Municipal Fire NOC Seal)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629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Approved Intake vs Fire NOC Cap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Fire NOC Cap ≥ Total Intake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NOC Cap: 450 | Total Intake: 600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DC26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 SAFETY RISK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Inter-Doc Triangulation (Building Plan)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9629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Faculty Identity Integrity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Unique Aadhaar / PAN / Biometrics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Duplicate in Inst. #1042 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749" b="1">
                          <a:solidFill>
                            <a:srgbClr val="9333E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 DUPLICATE IDENTITY 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749">
                          <a:solidFill>
                            <a:srgbClr val="47556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Salted HMAC-SHA256 &amp; Face Embedding Match (Advisory Flag)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TextBox 39"/>
          <p:cNvSpPr txBox="1"/>
          <p:nvPr/>
        </p:nvSpPr>
        <p:spPr>
          <a:xfrm>
            <a:off x="1559957" y="9100820"/>
            <a:ext cx="1453896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i="1">
                <a:solidFill>
                  <a:srgbClr val="0284C7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▲ Figure: Scrutiny Officer Deficiency Matrix — Actionable cockpit output produced for Standing Hearing Committees (SHC)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80196" y="3945255"/>
            <a:ext cx="7527607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284C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Illustrative Synthetic Dossier — APH Compliance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26" b="-1369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14400" y="-92869"/>
            <a:ext cx="16459200" cy="1735931"/>
            <a:chOff x="0" y="0"/>
            <a:chExt cx="21945600" cy="2314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618" b="-13461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14400" y="-114300"/>
            <a:ext cx="16459200" cy="1757362"/>
            <a:chOff x="0" y="0"/>
            <a:chExt cx="21945600" cy="2343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2343150"/>
            </a:xfrm>
            <a:custGeom>
              <a:avLst/>
              <a:gdLst/>
              <a:ahLst/>
              <a:cxnLst/>
              <a:rect l="l" t="t" r="r" b="b"/>
              <a:pathLst>
                <a:path w="21945600" h="2343150">
                  <a:moveTo>
                    <a:pt x="0" y="0"/>
                  </a:moveTo>
                  <a:lnTo>
                    <a:pt x="21945600" y="0"/>
                  </a:lnTo>
                  <a:lnTo>
                    <a:pt x="21945600" y="2343150"/>
                  </a:lnTo>
                  <a:lnTo>
                    <a:pt x="0" y="2343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2494" b="-13249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1945600" cy="237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49300"/>
            </a:xfrm>
            <a:custGeom>
              <a:avLst/>
              <a:gdLst/>
              <a:ahLst/>
              <a:cxnLst/>
              <a:rect l="l" t="t" r="r" b="b"/>
              <a:pathLst>
                <a:path w="5689600" h="749300">
                  <a:moveTo>
                    <a:pt x="0" y="0"/>
                  </a:moveTo>
                  <a:lnTo>
                    <a:pt x="5689600" y="0"/>
                  </a:lnTo>
                  <a:lnTo>
                    <a:pt x="56896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850" b="-9785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106400" y="9505950"/>
            <a:ext cx="4267200" cy="576262"/>
            <a:chOff x="0" y="0"/>
            <a:chExt cx="5689600" cy="7683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89600" cy="768350"/>
            </a:xfrm>
            <a:custGeom>
              <a:avLst/>
              <a:gdLst/>
              <a:ahLst/>
              <a:cxnLst/>
              <a:rect l="l" t="t" r="r" b="b"/>
              <a:pathLst>
                <a:path w="5689600" h="76835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285" b="-9428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670129" y="2248"/>
            <a:ext cx="3374803" cy="1593532"/>
            <a:chOff x="0" y="0"/>
            <a:chExt cx="4499737" cy="21247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9" b="-60"/>
              </a:stretch>
            </a:blipFill>
          </p:spPr>
        </p:sp>
      </p:grpSp>
      <p:sp>
        <p:nvSpPr>
          <p:cNvPr id="20" name="Freeform 20" descr="Your startup LOGO"/>
          <p:cNvSpPr/>
          <p:nvPr/>
        </p:nvSpPr>
        <p:spPr>
          <a:xfrm>
            <a:off x="77867" y="1343"/>
            <a:ext cx="2964180" cy="1989010"/>
          </a:xfrm>
          <a:custGeom>
            <a:avLst/>
            <a:gdLst/>
            <a:ahLst/>
            <a:cxnLst/>
            <a:rect l="l" t="t" r="r" b="b"/>
            <a:pathLst>
              <a:path w="2964180" h="1989010">
                <a:moveTo>
                  <a:pt x="0" y="0"/>
                </a:moveTo>
                <a:lnTo>
                  <a:pt x="2964180" y="0"/>
                </a:lnTo>
                <a:lnTo>
                  <a:pt x="2964180" y="1989011"/>
                </a:lnTo>
                <a:lnTo>
                  <a:pt x="0" y="1989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5" r="-85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92154" y="-27232"/>
            <a:ext cx="2935567" cy="2003346"/>
            <a:chOff x="0" y="0"/>
            <a:chExt cx="3914089" cy="26711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14140" cy="2671064"/>
            </a:xfrm>
            <a:custGeom>
              <a:avLst/>
              <a:gdLst/>
              <a:ahLst/>
              <a:cxnLst/>
              <a:rect l="l" t="t" r="r" b="b"/>
              <a:pathLst>
                <a:path w="3914140" h="2671064">
                  <a:moveTo>
                    <a:pt x="0" y="0"/>
                  </a:moveTo>
                  <a:lnTo>
                    <a:pt x="3914140" y="0"/>
                  </a:lnTo>
                  <a:lnTo>
                    <a:pt x="3914140" y="2671064"/>
                  </a:lnTo>
                  <a:lnTo>
                    <a:pt x="0" y="2671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619" r="-37618" b="-2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92154" y="-70094"/>
            <a:ext cx="2935567" cy="2046208"/>
            <a:chOff x="0" y="0"/>
            <a:chExt cx="3914089" cy="272827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14089" cy="2728278"/>
            </a:xfrm>
            <a:custGeom>
              <a:avLst/>
              <a:gdLst/>
              <a:ahLst/>
              <a:cxnLst/>
              <a:rect l="l" t="t" r="r" b="b"/>
              <a:pathLst>
                <a:path w="3914089" h="2728278">
                  <a:moveTo>
                    <a:pt x="0" y="0"/>
                  </a:moveTo>
                  <a:lnTo>
                    <a:pt x="3914089" y="0"/>
                  </a:lnTo>
                  <a:lnTo>
                    <a:pt x="3914089" y="2728278"/>
                  </a:lnTo>
                  <a:lnTo>
                    <a:pt x="0" y="2728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432" r="-3943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3914089" cy="2785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NAVDRISHTI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95300" y="2131509"/>
            <a:ext cx="8976360" cy="3398520"/>
            <a:chOff x="0" y="0"/>
            <a:chExt cx="11968480" cy="45313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968480" cy="4531360"/>
            </a:xfrm>
            <a:custGeom>
              <a:avLst/>
              <a:gdLst/>
              <a:ahLst/>
              <a:cxnLst/>
              <a:rect l="l" t="t" r="r" b="b"/>
              <a:pathLst>
                <a:path w="11968480" h="4531360">
                  <a:moveTo>
                    <a:pt x="0" y="755269"/>
                  </a:moveTo>
                  <a:cubicBezTo>
                    <a:pt x="0" y="338074"/>
                    <a:pt x="338074" y="0"/>
                    <a:pt x="755269" y="0"/>
                  </a:cubicBezTo>
                  <a:lnTo>
                    <a:pt x="11213211" y="0"/>
                  </a:lnTo>
                  <a:cubicBezTo>
                    <a:pt x="11630279" y="0"/>
                    <a:pt x="11968480" y="338074"/>
                    <a:pt x="11968480" y="755269"/>
                  </a:cubicBezTo>
                  <a:lnTo>
                    <a:pt x="11968480" y="3776091"/>
                  </a:lnTo>
                  <a:cubicBezTo>
                    <a:pt x="11968480" y="4193159"/>
                    <a:pt x="11630406" y="4531360"/>
                    <a:pt x="11213211" y="4531360"/>
                  </a:cubicBezTo>
                  <a:lnTo>
                    <a:pt x="755269" y="4531360"/>
                  </a:lnTo>
                  <a:cubicBezTo>
                    <a:pt x="338074" y="4531360"/>
                    <a:pt x="0" y="4193286"/>
                    <a:pt x="0" y="3776091"/>
                  </a:cubicBezTo>
                  <a:close/>
                </a:path>
              </a:pathLst>
            </a:custGeom>
            <a:solidFill>
              <a:srgbClr val="F8FAFC"/>
            </a:solidFill>
            <a:ln w="15240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1968480" cy="4569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Regulatory Frameworks &amp; Standards (Statutory Baselines):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 u="sng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7" tooltip="https://www.aicte-india.org/bureaus/approval/approval-process-handbook-2024-27"/>
                </a:rPr>
                <a:t>• AICTE Approval Process Handbook (APH 2024–27): </a:t>
              </a:r>
              <a:r>
                <a:rPr lang="en-US" sz="18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Statutory norms for FSR (1:20), Cadre Ratios (1:2:6), Instructional/Administrative area, and Land/Building norms. </a:t>
              </a:r>
              <a:r>
                <a:rPr lang="en-US" sz="1800" b="1" u="sng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7" tooltip="https://www.aicte-india.org/bureaus/approval/approval-process-handbook-2024-27"/>
                </a:rPr>
                <a:t>[aicteindia.org/bureaus/approval/aph-2024-27]</a:t>
              </a:r>
            </a:p>
            <a:p>
              <a:pPr algn="l">
                <a:lnSpc>
                  <a:spcPts val="2160"/>
                </a:lnSpc>
              </a:pPr>
              <a:r>
                <a:rPr lang="en-US" sz="1800" u="sng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8" tooltip="https://www.indiacode.nic.in/handle/123456789/1999"/>
                </a:rPr>
                <a:t>• Information Technology Act, 2000 (Section 3 &amp; 3A): </a:t>
              </a:r>
              <a:r>
                <a:rPr lang="en-US" sz="18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Statutory criteria for legal validity of electronic records, asymmetric cryptosystems, and Digital Signature Certificates (DSC). </a:t>
              </a:r>
              <a:r>
                <a:rPr lang="en-US" sz="1800" b="1" u="sng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8" tooltip="https://www.indiacode.nic.in/handle/123456789/1999"/>
                </a:rPr>
                <a:t>[indiacode.nic.in/handle/123456789/1999]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 u="sng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9" tooltip="https://www.iso.org/standard/51502.html"/>
                </a:rPr>
                <a:t>• ISO 32000-1 / PAdES Standard (ETSI TS 102 778): </a:t>
              </a:r>
              <a:r>
                <a:rPr lang="en-US" sz="18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International standards for PDF Advanced Electronic Signatures, timestamping, and long-term document integrity validation. </a:t>
              </a:r>
              <a:r>
                <a:rPr lang="en-US" sz="1800" b="1" u="sng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9" tooltip="https://www.iso.org/standard/51502.html"/>
                </a:rPr>
                <a:t>[iso.org/standard/51502.html]</a:t>
              </a:r>
            </a:p>
            <a:p>
              <a:pPr algn="l">
                <a:lnSpc>
                  <a:spcPts val="1860"/>
                </a:lnSpc>
              </a:pPr>
              <a:endParaRPr lang="en-US" sz="1800" b="1" u="sng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9" tooltip="https://www.iso.org/standard/51502.html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95300" y="5671185"/>
            <a:ext cx="8976360" cy="3764279"/>
            <a:chOff x="0" y="0"/>
            <a:chExt cx="11968480" cy="501903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968480" cy="5019039"/>
            </a:xfrm>
            <a:custGeom>
              <a:avLst/>
              <a:gdLst/>
              <a:ahLst/>
              <a:cxnLst/>
              <a:rect l="l" t="t" r="r" b="b"/>
              <a:pathLst>
                <a:path w="11968480" h="5019039">
                  <a:moveTo>
                    <a:pt x="0" y="836549"/>
                  </a:moveTo>
                  <a:cubicBezTo>
                    <a:pt x="0" y="374523"/>
                    <a:pt x="374523" y="0"/>
                    <a:pt x="836549" y="0"/>
                  </a:cubicBezTo>
                  <a:lnTo>
                    <a:pt x="11131931" y="0"/>
                  </a:lnTo>
                  <a:cubicBezTo>
                    <a:pt x="11593957" y="0"/>
                    <a:pt x="11968480" y="374523"/>
                    <a:pt x="11968480" y="836549"/>
                  </a:cubicBezTo>
                  <a:lnTo>
                    <a:pt x="11968480" y="4182490"/>
                  </a:lnTo>
                  <a:cubicBezTo>
                    <a:pt x="11968480" y="4644516"/>
                    <a:pt x="11593957" y="5019039"/>
                    <a:pt x="11131931" y="5019039"/>
                  </a:cubicBezTo>
                  <a:lnTo>
                    <a:pt x="836549" y="5019039"/>
                  </a:lnTo>
                  <a:cubicBezTo>
                    <a:pt x="374523" y="5019039"/>
                    <a:pt x="0" y="4644516"/>
                    <a:pt x="0" y="4182490"/>
                  </a:cubicBezTo>
                  <a:close/>
                </a:path>
              </a:pathLst>
            </a:custGeom>
            <a:solidFill>
              <a:srgbClr val="F8FAFC"/>
            </a:solidFill>
            <a:ln w="15240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1968480" cy="5057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Academic &amp; Forensic Research References: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 u="sng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10" tooltip="https://www.hackerfactor.com/papers/bh-usa-07-krawetz-wp.pdf"/>
                </a:rPr>
                <a:t>• Error Level Analysis (ELA) in Digital Forensics: </a:t>
              </a:r>
              <a:r>
                <a:rPr lang="en-US" sz="18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Krawetz, N. (2007), "A Picture's Worth... Digital Image Analysis &amp; JPEG Compression Artifacts", Black Hat Briefings. </a:t>
              </a:r>
              <a:r>
                <a:rPr lang="en-US" sz="1800" b="1" u="sng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10" tooltip="https://www.hackerfactor.com/papers/bh-usa-07-krawetz-wp.pdf"/>
                </a:rPr>
                <a:t>[hackerfactor.com/papers/krawetz-ela.pdf]</a:t>
              </a:r>
            </a:p>
            <a:p>
              <a:pPr algn="l">
                <a:lnSpc>
                  <a:spcPts val="2160"/>
                </a:lnSpc>
              </a:pPr>
              <a:r>
                <a:rPr lang="en-US" sz="1800" u="sng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11" tooltip="https://arxiv.org/abs/1905.11946"/>
                </a:rPr>
                <a:t>• Convolutional Neural Networks for Image Forgery: </a:t>
              </a:r>
              <a:r>
                <a:rPr lang="en-US" sz="18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Tan, M., &amp; Le, Q. V. (2019), "EfficientNet: Rethinking Model Scaling for CNNs", ICML (arXiv:1905.11946). </a:t>
              </a:r>
              <a:r>
                <a:rPr lang="en-US" sz="1800" b="1" u="sng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11" tooltip="https://arxiv.org/abs/1905.11946"/>
                </a:rPr>
                <a:t>[arxiv.org/abs/1905.11946]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 u="sng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12" tooltip="http://forensics.idealtest.org/casiav2/"/>
                </a:rPr>
                <a:t>• Benchmark Datasets in Document Forensics: </a:t>
              </a:r>
              <a:r>
                <a:rPr lang="en-US" sz="18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CASIA Image Tampering Dataset v2.0 (CASIA-TIDE) &amp; RVL-CDIP Document Classification Dataset. </a:t>
              </a:r>
              <a:r>
                <a:rPr lang="en-US" sz="1800" u="sng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12" tooltip="http://forensics.idealtest.org/casiav2/"/>
                </a:rPr>
                <a:t>[forensics.idealtest.org/casiav2]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1" u="sng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13" tooltip="https://partners.digitallocker.gov.in"/>
                </a:rPr>
                <a:t>• Digital Public Infrastructure (DPI) &amp; Verification APIs: </a:t>
              </a:r>
              <a:r>
                <a:rPr lang="en-US" sz="18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National Academic Depository (NAD) &amp; NIC DigiLocker Developer API Integration Specifications. </a:t>
              </a:r>
              <a:r>
                <a:rPr lang="en-US" sz="1800" b="1" u="sng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13" tooltip="https://partners.digitallocker.gov.in"/>
                </a:rPr>
                <a:t>[partners.digitallocker.gov.in]</a:t>
              </a:r>
            </a:p>
            <a:p>
              <a:pPr algn="l">
                <a:lnSpc>
                  <a:spcPts val="2160"/>
                </a:lnSpc>
              </a:pPr>
              <a:endParaRPr lang="en-US" sz="1800" b="1" u="sng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3" tooltip="https://partners.digitallocker.gov.in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677400" y="1899745"/>
            <a:ext cx="8107680" cy="2849880"/>
            <a:chOff x="0" y="0"/>
            <a:chExt cx="10810240" cy="37998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810240" cy="3799840"/>
            </a:xfrm>
            <a:custGeom>
              <a:avLst/>
              <a:gdLst/>
              <a:ahLst/>
              <a:cxnLst/>
              <a:rect l="l" t="t" r="r" b="b"/>
              <a:pathLst>
                <a:path w="10810240" h="3799840">
                  <a:moveTo>
                    <a:pt x="0" y="633349"/>
                  </a:moveTo>
                  <a:cubicBezTo>
                    <a:pt x="0" y="283591"/>
                    <a:pt x="283591" y="0"/>
                    <a:pt x="633349" y="0"/>
                  </a:cubicBezTo>
                  <a:lnTo>
                    <a:pt x="10176891" y="0"/>
                  </a:lnTo>
                  <a:cubicBezTo>
                    <a:pt x="10526649" y="0"/>
                    <a:pt x="10810240" y="283591"/>
                    <a:pt x="10810240" y="633349"/>
                  </a:cubicBezTo>
                  <a:lnTo>
                    <a:pt x="10810240" y="3166491"/>
                  </a:lnTo>
                  <a:cubicBezTo>
                    <a:pt x="10810240" y="3516249"/>
                    <a:pt x="10526649" y="3799840"/>
                    <a:pt x="10176891" y="3799840"/>
                  </a:cubicBezTo>
                  <a:lnTo>
                    <a:pt x="633349" y="3799840"/>
                  </a:lnTo>
                  <a:cubicBezTo>
                    <a:pt x="283591" y="3799840"/>
                    <a:pt x="0" y="3516249"/>
                    <a:pt x="0" y="3166491"/>
                  </a:cubicBezTo>
                  <a:close/>
                </a:path>
              </a:pathLst>
            </a:custGeom>
            <a:solidFill>
              <a:srgbClr val="F8FAFC"/>
            </a:solidFill>
            <a:ln w="1524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0810240" cy="3837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Proof of Concept (Working Prototype)</a:t>
              </a:r>
            </a:p>
            <a:p>
              <a:pPr marL="388620" lvl="1" indent="-194310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334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Repository: </a:t>
              </a:r>
              <a:r>
                <a:rPr lang="en-US" sz="1800" b="1" u="sng">
                  <a:solidFill>
                    <a:srgbClr val="334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14" tooltip="https://github.com/Aravkataria/ARGUS"/>
                </a:rPr>
                <a:t>ARGUS-GitHub</a:t>
              </a:r>
              <a:r>
                <a:rPr lang="en-US" sz="1800" b="1">
                  <a:solidFill>
                    <a:srgbClr val="334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[https://github.com/Aravkataria/ARGUS ]</a:t>
              </a:r>
            </a:p>
            <a:p>
              <a:pPr marL="388620" lvl="1" indent="-194310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Validated Core Features: </a:t>
              </a: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Multi-scale ELA + EfficientNet-B0 visual forensics; 300-DPI multi-page OCR table parsing; deterministic Python math solvers for FSR, Cadre &amp; Fire NOC; evidence-linked deficiency reports.</a:t>
              </a:r>
            </a:p>
            <a:p>
              <a:pPr marL="388620" lvl="1" indent="-194310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Prototype Execution Specs: </a:t>
              </a:r>
              <a:r>
                <a:rPr lang="en-US" sz="18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Lightweight CPU runtime (&lt;1.8s/page on 4-core CPU); 100% air-gapped on-premises architecture; designed to compress 14-day committee review to &lt; 15 mins.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014BFED1-6B7B-CCB3-D67D-D9884418310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029" y="4794161"/>
            <a:ext cx="8107680" cy="46722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1483</Words>
  <Application>Microsoft Office PowerPoint</Application>
  <PresentationFormat>Custom</PresentationFormat>
  <Paragraphs>114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Calibri (MS) Bold</vt:lpstr>
      <vt:lpstr>Calibri</vt:lpstr>
      <vt:lpstr>Calibri (MS) Bold Italics</vt:lpstr>
      <vt:lpstr>Arial</vt:lpstr>
      <vt:lpstr>Calibri (MS)</vt:lpstr>
      <vt:lpstr>Arimo Bold</vt:lpstr>
      <vt:lpstr>Arimo</vt:lpstr>
      <vt:lpstr>Garamond</vt:lpstr>
      <vt:lpstr>Times New Roman Bold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The 4-Pillar Forensic Engine: • Pixel-Level Forensic Scrutiny: Multi-scale ELA (50/70/90) and noise analysis detect doctored dates, whiteout masking, and cloned municipal seals on Fire NOCs &amp; Land Deeds before OCR extraction. • Deterministic APH Norms</dc:title>
  <dc:creator>LENOVO</dc:creator>
  <cp:lastModifiedBy>aravkataria17@outlook.com</cp:lastModifiedBy>
  <cp:revision>5</cp:revision>
  <dcterms:created xsi:type="dcterms:W3CDTF">2006-08-16T00:00:00Z</dcterms:created>
  <dcterms:modified xsi:type="dcterms:W3CDTF">2026-10-26T18:48:26Z</dcterms:modified>
  <dc:identifier>DAHZIAfiuvQ</dc:identifier>
</cp:coreProperties>
</file>